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E53F19-881C-42FB-BF48-0ABAE9CEBB14}" v="46" dt="2025-10-31T10:46:05.5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6" d="100"/>
          <a:sy n="96" d="100"/>
        </p:scale>
        <p:origin x="672" y="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an lade" userId="46f00533e237212e" providerId="LiveId" clId="{0A2444AE-7041-4093-9E27-311D6F89C555}"/>
    <pc:docChg chg="undo custSel modSld">
      <pc:chgData name="pavan lade" userId="46f00533e237212e" providerId="LiveId" clId="{0A2444AE-7041-4093-9E27-311D6F89C555}" dt="2025-10-31T10:46:05.522" v="242" actId="1076"/>
      <pc:docMkLst>
        <pc:docMk/>
      </pc:docMkLst>
      <pc:sldChg chg="modSp mod">
        <pc:chgData name="pavan lade" userId="46f00533e237212e" providerId="LiveId" clId="{0A2444AE-7041-4093-9E27-311D6F89C555}" dt="2025-10-31T10:35:15.066" v="11" actId="20577"/>
        <pc:sldMkLst>
          <pc:docMk/>
          <pc:sldMk cId="0" sldId="256"/>
        </pc:sldMkLst>
        <pc:spChg chg="mod">
          <ac:chgData name="pavan lade" userId="46f00533e237212e" providerId="LiveId" clId="{0A2444AE-7041-4093-9E27-311D6F89C555}" dt="2025-10-31T10:35:15.066" v="11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modSp mod">
        <pc:chgData name="pavan lade" userId="46f00533e237212e" providerId="LiveId" clId="{0A2444AE-7041-4093-9E27-311D6F89C555}" dt="2025-10-31T10:45:01.049" v="236" actId="14100"/>
        <pc:sldMkLst>
          <pc:docMk/>
          <pc:sldMk cId="0" sldId="262"/>
        </pc:sldMkLst>
        <pc:spChg chg="mod">
          <ac:chgData name="pavan lade" userId="46f00533e237212e" providerId="LiveId" clId="{0A2444AE-7041-4093-9E27-311D6F89C555}" dt="2025-10-31T10:43:03.685" v="210" actId="20577"/>
          <ac:spMkLst>
            <pc:docMk/>
            <pc:sldMk cId="0" sldId="262"/>
            <ac:spMk id="3" creationId="{00000000-0000-0000-0000-000000000000}"/>
          </ac:spMkLst>
        </pc:spChg>
        <pc:picChg chg="add mod">
          <ac:chgData name="pavan lade" userId="46f00533e237212e" providerId="LiveId" clId="{0A2444AE-7041-4093-9E27-311D6F89C555}" dt="2025-10-31T10:44:02.183" v="219" actId="1076"/>
          <ac:picMkLst>
            <pc:docMk/>
            <pc:sldMk cId="0" sldId="262"/>
            <ac:picMk id="1026" creationId="{81375F59-B3B8-2EC7-E616-3BAA15DF0E5C}"/>
          </ac:picMkLst>
        </pc:picChg>
        <pc:picChg chg="add mod">
          <ac:chgData name="pavan lade" userId="46f00533e237212e" providerId="LiveId" clId="{0A2444AE-7041-4093-9E27-311D6F89C555}" dt="2025-10-31T10:44:33.029" v="228" actId="1076"/>
          <ac:picMkLst>
            <pc:docMk/>
            <pc:sldMk cId="0" sldId="262"/>
            <ac:picMk id="1028" creationId="{2783302A-BF12-4235-1024-D320DA807B64}"/>
          </ac:picMkLst>
        </pc:picChg>
        <pc:picChg chg="add mod">
          <ac:chgData name="pavan lade" userId="46f00533e237212e" providerId="LiveId" clId="{0A2444AE-7041-4093-9E27-311D6F89C555}" dt="2025-10-31T10:45:01.049" v="236" actId="14100"/>
          <ac:picMkLst>
            <pc:docMk/>
            <pc:sldMk cId="0" sldId="262"/>
            <ac:picMk id="1030" creationId="{A66038CF-4327-D2FA-CB66-62804C975DC2}"/>
          </ac:picMkLst>
        </pc:picChg>
      </pc:sldChg>
      <pc:sldChg chg="addSp modSp">
        <pc:chgData name="pavan lade" userId="46f00533e237212e" providerId="LiveId" clId="{0A2444AE-7041-4093-9E27-311D6F89C555}" dt="2025-10-31T10:46:05.522" v="242" actId="1076"/>
        <pc:sldMkLst>
          <pc:docMk/>
          <pc:sldMk cId="0" sldId="263"/>
        </pc:sldMkLst>
        <pc:picChg chg="add mod">
          <ac:chgData name="pavan lade" userId="46f00533e237212e" providerId="LiveId" clId="{0A2444AE-7041-4093-9E27-311D6F89C555}" dt="2025-10-31T10:46:05.522" v="242" actId="1076"/>
          <ac:picMkLst>
            <pc:docMk/>
            <pc:sldMk cId="0" sldId="263"/>
            <ac:picMk id="2050" creationId="{D811C7BD-AAE1-629E-71C3-6C8384ADF66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Insurance Customer Response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 Machine Learning Project</a:t>
            </a:r>
          </a:p>
          <a:p>
            <a:r>
              <a:rPr dirty="0"/>
              <a:t>Prepared by: [</a:t>
            </a:r>
            <a:r>
              <a:rPr lang="en-IN" dirty="0"/>
              <a:t>Pawan Lade</a:t>
            </a:r>
            <a:r>
              <a:rPr dirty="0"/>
              <a:t>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003366"/>
                </a:solidFill>
              </a:defRPr>
            </a:pPr>
            <a:r>
              <a:t>• Goal: Predict customer responses to insurance offers using machine learning.</a:t>
            </a:r>
          </a:p>
          <a:p>
            <a:pPr>
              <a:defRPr sz="1800">
                <a:solidFill>
                  <a:srgbClr val="003366"/>
                </a:solidFill>
              </a:defRPr>
            </a:pPr>
            <a:r>
              <a:t>• Helps improve targeted marketing and policy sales efficiency.</a:t>
            </a:r>
          </a:p>
          <a:p>
            <a:pPr>
              <a:defRPr sz="1800">
                <a:solidFill>
                  <a:srgbClr val="003366"/>
                </a:solidFill>
              </a:defRPr>
            </a:pPr>
            <a:r>
              <a:t>• Analyzes customer behavior to optimize sales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003366"/>
                </a:solidFill>
              </a:defRPr>
            </a:pPr>
            <a:r>
              <a:t>• Total records: 381,109 and 12 columns.</a:t>
            </a:r>
          </a:p>
          <a:p>
            <a:pPr>
              <a:defRPr sz="1800">
                <a:solidFill>
                  <a:srgbClr val="003366"/>
                </a:solidFill>
              </a:defRPr>
            </a:pPr>
            <a:r>
              <a:t>• Target column: Response (1 = Responded, 0 = Not Responded).</a:t>
            </a:r>
          </a:p>
          <a:p>
            <a:pPr>
              <a:defRPr sz="1800">
                <a:solidFill>
                  <a:srgbClr val="003366"/>
                </a:solidFill>
              </a:defRPr>
            </a:pPr>
            <a:r>
              <a:t>• Numeric: Age, Annual_Premium, Vintage.</a:t>
            </a:r>
          </a:p>
          <a:p>
            <a:pPr>
              <a:defRPr sz="1800">
                <a:solidFill>
                  <a:srgbClr val="003366"/>
                </a:solidFill>
              </a:defRPr>
            </a:pPr>
            <a:r>
              <a:t>• Categorical: Gender, Driving License, Region Code, etc.</a:t>
            </a:r>
          </a:p>
          <a:p>
            <a:pPr>
              <a:defRPr sz="1800">
                <a:solidFill>
                  <a:srgbClr val="003366"/>
                </a:solidFill>
              </a:defRPr>
            </a:pPr>
            <a:r>
              <a:t>• Data is imbalanced — only 12.3% positive responses.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003366"/>
                </a:solidFill>
              </a:defRPr>
            </a:pPr>
            <a:r>
              <a:t>• Most customers aged 20–60 years.</a:t>
            </a:r>
          </a:p>
          <a:p>
            <a:pPr>
              <a:defRPr sz="1800">
                <a:solidFill>
                  <a:srgbClr val="003366"/>
                </a:solidFill>
              </a:defRPr>
            </a:pPr>
            <a:r>
              <a:t>• Customers with previous Vehicle Damage respond more often.</a:t>
            </a:r>
          </a:p>
          <a:p>
            <a:pPr>
              <a:defRPr sz="1800">
                <a:solidFill>
                  <a:srgbClr val="003366"/>
                </a:solidFill>
              </a:defRPr>
            </a:pPr>
            <a:r>
              <a:t>• Uninsured customers more likely to accept offers.</a:t>
            </a:r>
          </a:p>
          <a:p>
            <a:pPr>
              <a:defRPr sz="1800">
                <a:solidFill>
                  <a:srgbClr val="003366"/>
                </a:solidFill>
              </a:defRPr>
            </a:pPr>
            <a:r>
              <a:t>• Older vehicles have higher response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003366"/>
                </a:solidFill>
              </a:defRPr>
            </a:pPr>
            <a:r>
              <a:t>• Checked for missing values — none found.</a:t>
            </a:r>
          </a:p>
          <a:p>
            <a:pPr>
              <a:defRPr sz="1800">
                <a:solidFill>
                  <a:srgbClr val="003366"/>
                </a:solidFill>
              </a:defRPr>
            </a:pPr>
            <a:r>
              <a:t>• Encoded categorical variables using Label Encoding.</a:t>
            </a:r>
          </a:p>
          <a:p>
            <a:pPr>
              <a:defRPr sz="1800">
                <a:solidFill>
                  <a:srgbClr val="003366"/>
                </a:solidFill>
              </a:defRPr>
            </a:pPr>
            <a:r>
              <a:t>• Scaled numeric features with StandardScaler for balance.</a:t>
            </a:r>
          </a:p>
          <a:p>
            <a:pPr>
              <a:defRPr sz="1800">
                <a:solidFill>
                  <a:srgbClr val="003366"/>
                </a:solidFill>
              </a:defRPr>
            </a:pPr>
            <a:r>
              <a:t>• Prepared clean dataset ready for model training.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003366"/>
                </a:solidFill>
              </a:defRPr>
            </a:pPr>
            <a:r>
              <a:t>• Age_Group – Categorized customers by age.</a:t>
            </a:r>
          </a:p>
          <a:p>
            <a:pPr>
              <a:defRPr sz="1800">
                <a:solidFill>
                  <a:srgbClr val="003366"/>
                </a:solidFill>
              </a:defRPr>
            </a:pPr>
            <a:r>
              <a:t>• Premium_per_Vintage – Premium per day with company.</a:t>
            </a:r>
          </a:p>
          <a:p>
            <a:pPr>
              <a:defRPr sz="1800">
                <a:solidFill>
                  <a:srgbClr val="003366"/>
                </a:solidFill>
              </a:defRPr>
            </a:pPr>
            <a:r>
              <a:t>• Is_Young_and_Unlicensed – Checks if young &amp; unlicensed.</a:t>
            </a:r>
          </a:p>
          <a:p>
            <a:pPr>
              <a:defRPr sz="1800">
                <a:solidFill>
                  <a:srgbClr val="003366"/>
                </a:solidFill>
              </a:defRPr>
            </a:pPr>
            <a:r>
              <a:t>• Vehicle_Age_Encoded and Vehicle_Damage_Encoded – Converted to numeric.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077200" cy="452230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rmAutofit/>
          </a:bodyPr>
          <a:lstStyle/>
          <a:p>
            <a:endParaRPr dirty="0"/>
          </a:p>
          <a:p>
            <a:pPr>
              <a:defRPr sz="1800">
                <a:solidFill>
                  <a:srgbClr val="003366"/>
                </a:solidFill>
              </a:defRPr>
            </a:pPr>
            <a:r>
              <a:rPr dirty="0"/>
              <a:t>• Evaluated: Logistic Regression, Decision Tree, Random Fores</a:t>
            </a:r>
            <a:r>
              <a:rPr lang="en-IN" dirty="0"/>
              <a:t>t.</a:t>
            </a:r>
            <a:endParaRPr dirty="0"/>
          </a:p>
          <a:p>
            <a:pPr>
              <a:defRPr sz="1800">
                <a:solidFill>
                  <a:srgbClr val="003366"/>
                </a:solidFill>
              </a:defRPr>
            </a:pPr>
            <a:r>
              <a:rPr dirty="0"/>
              <a:t>• Compared metrics: Accuracy, Precision, Recall, F1-Score, ROC-AUC.</a:t>
            </a:r>
          </a:p>
          <a:p>
            <a:pPr>
              <a:defRPr sz="1800">
                <a:solidFill>
                  <a:srgbClr val="003366"/>
                </a:solidFill>
              </a:defRPr>
            </a:pPr>
            <a:r>
              <a:rPr dirty="0"/>
              <a:t>• Random Forest achieved best accuracy and stable performance.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1375F59-B3B8-2EC7-E616-3BAA15DF0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53" y="3349487"/>
            <a:ext cx="2441712" cy="198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783302A-BF12-4235-1024-D320DA807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485" y="3429000"/>
            <a:ext cx="2739888" cy="190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66038CF-4327-D2FA-CB66-62804C975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3693" y="3244712"/>
            <a:ext cx="3207027" cy="208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003366"/>
                </a:solidFill>
              </a:defRPr>
            </a:pPr>
            <a:r>
              <a:t>• Logistic Regression: Accuracy 72%, Recall 0.89, ROC-AUC 0.86.</a:t>
            </a:r>
          </a:p>
          <a:p>
            <a:pPr>
              <a:defRPr sz="1800">
                <a:solidFill>
                  <a:srgbClr val="003366"/>
                </a:solidFill>
              </a:defRPr>
            </a:pPr>
            <a:r>
              <a:t>• Decision Tree: Accuracy 82%, moderate recall.</a:t>
            </a:r>
          </a:p>
          <a:p>
            <a:pPr>
              <a:defRPr sz="1800">
                <a:solidFill>
                  <a:srgbClr val="003366"/>
                </a:solidFill>
              </a:defRPr>
            </a:pPr>
            <a:r>
              <a:t>• Random Forest: Accuracy 85%, best overall performance.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811C7BD-AAE1-629E-71C3-6C8384ADF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110" y="3184180"/>
            <a:ext cx="4201560" cy="2941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003366"/>
                </a:solidFill>
              </a:defRPr>
            </a:pPr>
            <a:r>
              <a:t>• ROC Curve comparison shows Random Forest leading.</a:t>
            </a:r>
          </a:p>
          <a:p>
            <a:pPr>
              <a:defRPr sz="1800">
                <a:solidFill>
                  <a:srgbClr val="003366"/>
                </a:solidFill>
              </a:defRPr>
            </a:pPr>
            <a:r>
              <a:t>• Confusion Matrix indicates strong classification power.</a:t>
            </a:r>
          </a:p>
          <a:p>
            <a:pPr>
              <a:defRPr sz="1800">
                <a:solidFill>
                  <a:srgbClr val="003366"/>
                </a:solidFill>
              </a:defRPr>
            </a:pPr>
            <a:r>
              <a:t>• Feature Importance: Vehicle Damage, Age, Vintage most significant.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003366"/>
                </a:solidFill>
              </a:defRPr>
            </a:pPr>
            <a:r>
              <a:t>• Vehicle Damage and Uninsured status strongly impact response.</a:t>
            </a:r>
          </a:p>
          <a:p>
            <a:pPr>
              <a:defRPr sz="1800">
                <a:solidFill>
                  <a:srgbClr val="003366"/>
                </a:solidFill>
              </a:defRPr>
            </a:pPr>
            <a:r>
              <a:t>• Older vehicles show higher interest in offers.</a:t>
            </a:r>
          </a:p>
          <a:p>
            <a:pPr>
              <a:defRPr sz="1800">
                <a:solidFill>
                  <a:srgbClr val="003366"/>
                </a:solidFill>
              </a:defRPr>
            </a:pPr>
            <a:r>
              <a:t>• Random Forest chosen for final deployment.</a:t>
            </a:r>
          </a:p>
          <a:p>
            <a:pPr>
              <a:defRPr sz="1800">
                <a:solidFill>
                  <a:srgbClr val="003366"/>
                </a:solidFill>
              </a:defRPr>
            </a:pPr>
            <a:r>
              <a:t>• Supports data-driven marketing and customer engagement.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386</Words>
  <Application>Microsoft Office PowerPoint</Application>
  <PresentationFormat>On-screen Show (4:3)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Insurance Customer Response Prediction</vt:lpstr>
      <vt:lpstr>Project Overview</vt:lpstr>
      <vt:lpstr>Data Exploration</vt:lpstr>
      <vt:lpstr>Data Insights</vt:lpstr>
      <vt:lpstr>Data Preprocessing</vt:lpstr>
      <vt:lpstr>Feature Engineering</vt:lpstr>
      <vt:lpstr>Model Selection</vt:lpstr>
      <vt:lpstr>Model Performance Summary</vt:lpstr>
      <vt:lpstr>Model Visualizations</vt:lpstr>
      <vt:lpstr>Insights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pavan lade</cp:lastModifiedBy>
  <cp:revision>1</cp:revision>
  <dcterms:created xsi:type="dcterms:W3CDTF">2013-01-27T09:14:16Z</dcterms:created>
  <dcterms:modified xsi:type="dcterms:W3CDTF">2025-10-31T10:46:11Z</dcterms:modified>
  <cp:category/>
</cp:coreProperties>
</file>